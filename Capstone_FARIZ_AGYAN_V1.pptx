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59" r:id="rId4"/>
    <p:sldId id="266" r:id="rId5"/>
    <p:sldId id="267" r:id="rId6"/>
    <p:sldId id="268" r:id="rId7"/>
    <p:sldId id="270" r:id="rId8"/>
    <p:sldId id="271" r:id="rId9"/>
    <p:sldId id="269" r:id="rId10"/>
    <p:sldId id="260" r:id="rId11"/>
    <p:sldId id="272" r:id="rId12"/>
    <p:sldId id="273" r:id="rId13"/>
    <p:sldId id="274" r:id="rId14"/>
    <p:sldId id="261" r:id="rId15"/>
    <p:sldId id="262" r:id="rId16"/>
    <p:sldId id="263" r:id="rId17"/>
    <p:sldId id="276" r:id="rId18"/>
    <p:sldId id="264" r:id="rId19"/>
    <p:sldId id="277" r:id="rId20"/>
    <p:sldId id="265" r:id="rId21"/>
    <p:sldId id="275" r:id="rId22"/>
    <p:sldId id="278" r:id="rId23"/>
    <p:sldId id="281" r:id="rId24"/>
    <p:sldId id="280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82229EB-A028-48E3-B0E6-864F1B4CAA61}">
          <p14:sldIdLst>
            <p14:sldId id="257"/>
            <p14:sldId id="258"/>
            <p14:sldId id="259"/>
            <p14:sldId id="266"/>
            <p14:sldId id="267"/>
            <p14:sldId id="268"/>
            <p14:sldId id="270"/>
            <p14:sldId id="271"/>
            <p14:sldId id="269"/>
            <p14:sldId id="260"/>
            <p14:sldId id="272"/>
            <p14:sldId id="273"/>
            <p14:sldId id="274"/>
            <p14:sldId id="261"/>
            <p14:sldId id="262"/>
            <p14:sldId id="263"/>
            <p14:sldId id="276"/>
            <p14:sldId id="264"/>
            <p14:sldId id="277"/>
            <p14:sldId id="265"/>
            <p14:sldId id="275"/>
            <p14:sldId id="278"/>
            <p14:sldId id="281"/>
            <p14:sldId id="280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79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outlineViewPr>
    <p:cViewPr>
      <p:scale>
        <a:sx n="33" d="100"/>
        <a:sy n="33" d="100"/>
      </p:scale>
      <p:origin x="0" y="-385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C5520-4476-4F2C-9B0F-0717208CFAD4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C1CAB-F913-4BC6-90A5-4624BFAC4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78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17bea95534_3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g117bea95534_3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071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8796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4379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1558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8264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8930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7bea95534_3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117bea95534_3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824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1562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1610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3607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7974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848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325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6845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08611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9786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2312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5683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95185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7bea95534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17bea95534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68894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7bea95534_3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17bea95534_3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7bea959a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17bea959ad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g117bea959ad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D0B3-3058-E3B7-72CC-0D9EB6917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E752D-CABA-F42D-DB35-C77450DCA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87EFB-ADD7-ECBF-521D-E2BA51AC5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0786D-C635-EECF-7F53-48EC9B00B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56ECA-3308-DEDD-CBC4-B49CA6311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52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CE63-B579-74CF-627A-528B2574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FB363-980C-7822-E985-CDC71D3A6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C2418-4AE9-1AA7-80D7-DBB79E30E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7CC09-A228-5011-8BB8-56141BE0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3B59B-5AFA-84CD-C56C-7F99F42A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5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A5C17-3EC8-E6AC-06D6-CAD39CA8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0068E-B892-843C-35C6-DDDAB57A7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32760-E9DB-D414-8360-E5549820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AD3D5-689B-D811-3FB6-BB3846865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EBB76-149C-3F6B-308A-E74B9F88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2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C9F5C-5D0D-F48A-73C0-C96228FE6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E3CB0-2A82-02B3-3F28-C2F473AA4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AD541-D20D-08E8-8572-1A1EF0442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04643-3279-D0CE-61BB-E0520591A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7F1F3-D150-A445-AC52-DE9769C7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5FFF7-5D3F-D92B-6F9F-A75565CC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89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8BF27-8441-3099-ED20-8B0FE532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64B53-8328-127C-7467-2C29184E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EA39B-4D1D-6487-DD78-3D2B51F22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73277C-E824-3EA2-FF11-D9CDBAA45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71BE1F-64F2-C12F-B8B5-CB1EA0058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4B2CB8-B3DF-D5AE-A299-AA0C3956B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4BDA2-A3A6-B658-AA5C-0C3DEA22B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AF8C5D-167F-ACCA-8B9F-79CA12CB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7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E752-802E-7731-9F40-7F9F4EA71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7FBF6-C9DC-A937-CE46-43511972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60F78-B617-381D-732A-F2C775E8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28CE2-C7AE-5065-886A-1648E5137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2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1196D1-CC73-CEF2-5350-4EDEFF2B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31138D-047F-D42C-A155-B00E6D750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A2D47-8E7F-3B79-90FD-4EEFB89E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45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0EA38-0CA0-AC6E-7402-B435E517D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2C11D-A57F-9B06-2D5C-51BB78C5F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8B9BB-B67B-731D-2544-967006496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9A245-B018-9F4E-828E-1C0E3FDEB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58232-FAAD-904B-7016-236A9E3C4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0A13E-7CD9-2A9F-3264-D49BCFE7E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8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5BC8-AB91-25A8-3FE7-1769130D7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53C1A-330A-DF7A-6008-E120406AF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D9B7E-4354-10E3-80BB-4854F215F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5D2CB-8743-90B2-F57D-1B816C30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4BE4C-36A0-A3C5-8C82-74CEBF65C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83AF7-E5A7-BB90-4FE5-499AA1D63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2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6886-5928-880B-013B-B1F1068E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06B9C-5C81-2F49-1611-29770E5D8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A240C-D322-3A90-53BF-54691B372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85D53-DEF8-9837-5AD0-65D59D79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37A15-5E7C-E88A-8383-09F82A0A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36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68B3B1-64C5-E4BA-7A93-0FF9498DB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82C96-8FB4-D68B-11CE-6675B45D7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F0133-AB5C-9781-B0A3-CA120CE38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1B9AA-F716-8A02-9FB7-23A364B0C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F1898-B01E-ADAC-5723-A957B698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03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20504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7682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slide layout">
  <p:cSld name="Contents slide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17bea959ad_0_126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200" cy="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609585" lvl="0" indent="-304792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262626"/>
              </a:buClr>
              <a:buSzPts val="4100"/>
              <a:buNone/>
              <a:defRPr sz="5467" b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539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40DAA-8FC4-4517-1AFC-260F5B9E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9D6CF-A5EF-3B15-102A-9190FBB4F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0AB38-310E-C465-A845-687A02AE0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F6CE7-6552-46BF-A681-9DE6FBC37CC0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F0FC4-689E-D3BF-C637-93318D2EB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2FA6F-0867-1E53-4598-1ED9B9B8C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7233B-6C23-4E56-9ED4-342102FE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9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kaggle.com/olistbr/brazilian-ecommerce" TargetMode="Externa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117bea95534_3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276" y="-1593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117bea95534_3_9"/>
          <p:cNvSpPr/>
          <p:nvPr/>
        </p:nvSpPr>
        <p:spPr>
          <a:xfrm>
            <a:off x="5651433" y="1394292"/>
            <a:ext cx="6458000" cy="1428800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FFD96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117bea95534_3_9"/>
          <p:cNvSpPr txBox="1"/>
          <p:nvPr/>
        </p:nvSpPr>
        <p:spPr>
          <a:xfrm>
            <a:off x="6876129" y="1560684"/>
            <a:ext cx="4524800" cy="1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3067" b="1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CAPSTONE PROJECT </a:t>
            </a:r>
            <a:br>
              <a:rPr lang="en" sz="3067" b="1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" sz="3067" b="1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Analyst</a:t>
            </a:r>
            <a:endParaRPr sz="3067" b="1">
              <a:solidFill>
                <a:srgbClr val="2F549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0" name="Google Shape;80;g117bea95534_3_9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1</a:t>
            </a:fld>
            <a:endParaRPr sz="1467" b="1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81" name="Google Shape;81;g117bea95534_3_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3" y="131701"/>
            <a:ext cx="7249483" cy="468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117bea95534_3_9"/>
          <p:cNvSpPr/>
          <p:nvPr/>
        </p:nvSpPr>
        <p:spPr>
          <a:xfrm>
            <a:off x="1407726" y="4067379"/>
            <a:ext cx="9348000" cy="2044000"/>
          </a:xfrm>
          <a:prstGeom prst="roundRect">
            <a:avLst>
              <a:gd name="adj" fmla="val 16667"/>
            </a:avLst>
          </a:prstGeom>
          <a:solidFill>
            <a:srgbClr val="F0EBFD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117bea95534_3_9"/>
          <p:cNvSpPr txBox="1"/>
          <p:nvPr/>
        </p:nvSpPr>
        <p:spPr>
          <a:xfrm>
            <a:off x="1867535" y="4242793"/>
            <a:ext cx="8428382" cy="114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-US" sz="2400" b="1" dirty="0" err="1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Menjelajahi</a:t>
            </a:r>
            <a:r>
              <a:rPr lang="en-US" sz="2400" b="1" dirty="0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Data </a:t>
            </a:r>
            <a:r>
              <a:rPr lang="en-US" sz="2400" b="1" dirty="0" err="1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Olist</a:t>
            </a:r>
            <a:r>
              <a:rPr lang="en-US" sz="2400" b="1" dirty="0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E-commerce </a:t>
            </a:r>
            <a:r>
              <a:rPr lang="en-US" sz="2400" b="1" dirty="0" err="1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dengan</a:t>
            </a:r>
            <a:r>
              <a:rPr lang="en-US" sz="2400" b="1" dirty="0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EDA: </a:t>
            </a:r>
            <a:r>
              <a:rPr lang="en-US" sz="2400" b="1" dirty="0" err="1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Mengungkap</a:t>
            </a:r>
            <a:r>
              <a:rPr lang="en-US" sz="2400" b="1" dirty="0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2400" b="1" dirty="0" err="1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Tren</a:t>
            </a:r>
            <a:r>
              <a:rPr lang="en-US" sz="2400" b="1" dirty="0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dan Pola yang </a:t>
            </a:r>
            <a:r>
              <a:rPr lang="en-US" sz="2400" b="1" dirty="0" err="1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Signifikan</a:t>
            </a:r>
            <a:endParaRPr sz="2400" b="1" dirty="0">
              <a:solidFill>
                <a:srgbClr val="2F549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4" name="Google Shape;84;g117bea95534_3_9"/>
          <p:cNvSpPr txBox="1"/>
          <p:nvPr/>
        </p:nvSpPr>
        <p:spPr>
          <a:xfrm>
            <a:off x="4497048" y="5433888"/>
            <a:ext cx="2752432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2267" b="1" dirty="0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&lt;Fariz Agyan&gt;</a:t>
            </a:r>
            <a:endParaRPr sz="2267" b="1" dirty="0">
              <a:solidFill>
                <a:srgbClr val="2F549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3476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2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3CBDAF28-6BC0-E8B3-CEEC-D19ABA3335E3}"/>
              </a:ext>
            </a:extLst>
          </p:cNvPr>
          <p:cNvCxnSpPr>
            <a:cxnSpLocks/>
          </p:cNvCxnSpPr>
          <p:nvPr/>
        </p:nvCxnSpPr>
        <p:spPr>
          <a:xfrm flipV="1">
            <a:off x="576470" y="2772547"/>
            <a:ext cx="11039061" cy="1353378"/>
          </a:xfrm>
          <a:prstGeom prst="curvedConnector3">
            <a:avLst/>
          </a:prstGeom>
          <a:ln w="76200">
            <a:solidFill>
              <a:srgbClr val="F679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983C4A0-3707-179C-B917-AC31CEB7D089}"/>
              </a:ext>
            </a:extLst>
          </p:cNvPr>
          <p:cNvSpPr/>
          <p:nvPr/>
        </p:nvSpPr>
        <p:spPr>
          <a:xfrm>
            <a:off x="550015" y="2649342"/>
            <a:ext cx="1972266" cy="500892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E5C4B8-8A71-DBE3-7E40-84C2C5D07278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524050" y="3150234"/>
            <a:ext cx="12098" cy="9756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753D201-FF26-779E-B250-EAAF80FFEA4C}"/>
              </a:ext>
            </a:extLst>
          </p:cNvPr>
          <p:cNvSpPr/>
          <p:nvPr/>
        </p:nvSpPr>
        <p:spPr>
          <a:xfrm>
            <a:off x="1490920" y="4068610"/>
            <a:ext cx="72887" cy="45719"/>
          </a:xfrm>
          <a:prstGeom prst="ellipse">
            <a:avLst/>
          </a:prstGeom>
          <a:solidFill>
            <a:srgbClr val="7030A0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4E985B-0FAB-5FEF-819D-0412877ED3AB}"/>
              </a:ext>
            </a:extLst>
          </p:cNvPr>
          <p:cNvCxnSpPr>
            <a:cxnSpLocks/>
          </p:cNvCxnSpPr>
          <p:nvPr/>
        </p:nvCxnSpPr>
        <p:spPr>
          <a:xfrm>
            <a:off x="6679410" y="1741597"/>
            <a:ext cx="0" cy="140863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68793E1-0CB4-EB25-6834-FAAB998D2FE7}"/>
              </a:ext>
            </a:extLst>
          </p:cNvPr>
          <p:cNvSpPr/>
          <p:nvPr/>
        </p:nvSpPr>
        <p:spPr>
          <a:xfrm>
            <a:off x="6650134" y="3159414"/>
            <a:ext cx="72887" cy="45719"/>
          </a:xfrm>
          <a:prstGeom prst="ellipse">
            <a:avLst/>
          </a:prstGeom>
          <a:solidFill>
            <a:srgbClr val="7030A0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0815834-56BA-0824-E5C6-8D338660EA78}"/>
              </a:ext>
            </a:extLst>
          </p:cNvPr>
          <p:cNvCxnSpPr>
            <a:cxnSpLocks/>
          </p:cNvCxnSpPr>
          <p:nvPr/>
        </p:nvCxnSpPr>
        <p:spPr>
          <a:xfrm flipH="1">
            <a:off x="9901414" y="2875096"/>
            <a:ext cx="6618" cy="13774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B11B572-0C87-B461-D9CD-FE7B94763BCF}"/>
              </a:ext>
            </a:extLst>
          </p:cNvPr>
          <p:cNvSpPr/>
          <p:nvPr/>
        </p:nvSpPr>
        <p:spPr>
          <a:xfrm rot="21442877">
            <a:off x="9871587" y="2827737"/>
            <a:ext cx="72887" cy="45719"/>
          </a:xfrm>
          <a:prstGeom prst="ellipse">
            <a:avLst/>
          </a:prstGeom>
          <a:solidFill>
            <a:srgbClr val="7030A0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DD57B8-97D0-1F45-2604-E9F623A4C660}"/>
              </a:ext>
            </a:extLst>
          </p:cNvPr>
          <p:cNvSpPr/>
          <p:nvPr/>
        </p:nvSpPr>
        <p:spPr>
          <a:xfrm>
            <a:off x="8020666" y="4249130"/>
            <a:ext cx="3523634" cy="755374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Result and Recommendations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327F79-1FB7-9119-9C48-461C72C1870A}"/>
              </a:ext>
            </a:extLst>
          </p:cNvPr>
          <p:cNvSpPr/>
          <p:nvPr/>
        </p:nvSpPr>
        <p:spPr>
          <a:xfrm>
            <a:off x="5150654" y="1272442"/>
            <a:ext cx="2972930" cy="549916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CB358AA-5D3A-8839-91DE-38C3F7501AED}"/>
              </a:ext>
            </a:extLst>
          </p:cNvPr>
          <p:cNvCxnSpPr>
            <a:cxnSpLocks/>
          </p:cNvCxnSpPr>
          <p:nvPr/>
        </p:nvCxnSpPr>
        <p:spPr>
          <a:xfrm>
            <a:off x="4292959" y="3888865"/>
            <a:ext cx="0" cy="14157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DF04390-76A3-F57D-9F0B-80E9868EFB49}"/>
              </a:ext>
            </a:extLst>
          </p:cNvPr>
          <p:cNvSpPr/>
          <p:nvPr/>
        </p:nvSpPr>
        <p:spPr>
          <a:xfrm rot="21442877">
            <a:off x="4256515" y="3890496"/>
            <a:ext cx="72887" cy="63646"/>
          </a:xfrm>
          <a:prstGeom prst="ellipse">
            <a:avLst/>
          </a:prstGeom>
          <a:solidFill>
            <a:srgbClr val="7030A0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60CDF2-EF7B-B45D-9704-35A238D04C2C}"/>
              </a:ext>
            </a:extLst>
          </p:cNvPr>
          <p:cNvSpPr/>
          <p:nvPr/>
        </p:nvSpPr>
        <p:spPr>
          <a:xfrm>
            <a:off x="3034748" y="4939938"/>
            <a:ext cx="2498102" cy="944027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Project 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0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3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2B6088-4676-CADF-02F7-81089CF3ABCD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Montserrat SemiBold" panose="00000700000000000000" pitchFamily="2" charset="0"/>
              </a:rPr>
              <a:t>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D6366-F04F-58A0-6B52-6F0B476D3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52396" indent="0">
              <a:buNone/>
            </a:pPr>
            <a:r>
              <a:rPr lang="en-US" b="0" i="0" dirty="0">
                <a:effectLst/>
                <a:latin typeface="Roboto" panose="02000000000000000000" pitchFamily="2" charset="0"/>
              </a:rPr>
              <a:t>E-commerce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merupakan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sektor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bisnis</a:t>
            </a:r>
            <a:r>
              <a:rPr lang="en-US" b="0" i="0" dirty="0">
                <a:effectLst/>
                <a:latin typeface="Roboto" panose="02000000000000000000" pitchFamily="2" charset="0"/>
              </a:rPr>
              <a:t> yang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sedang</a:t>
            </a:r>
            <a:r>
              <a:rPr lang="en-US" b="0" i="0" dirty="0">
                <a:effectLst/>
                <a:latin typeface="Roboto" panose="02000000000000000000" pitchFamily="2" charset="0"/>
              </a:rPr>
              <a:t> naik.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Industri</a:t>
            </a:r>
            <a:r>
              <a:rPr lang="en-US" b="0" i="0" dirty="0">
                <a:effectLst/>
                <a:latin typeface="Roboto" panose="02000000000000000000" pitchFamily="2" charset="0"/>
              </a:rPr>
              <a:t> yang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berkembang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pesat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ini</a:t>
            </a:r>
            <a:r>
              <a:rPr lang="en-US" b="0" i="0" dirty="0">
                <a:effectLst/>
                <a:latin typeface="Roboto" panose="02000000000000000000" pitchFamily="2" charset="0"/>
              </a:rPr>
              <a:t> juga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telah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mengadaptasi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fitur-fitur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seperti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pembayaran</a:t>
            </a:r>
            <a:r>
              <a:rPr lang="en-US" b="0" i="0" dirty="0">
                <a:effectLst/>
                <a:latin typeface="Roboto" panose="02000000000000000000" pitchFamily="2" charset="0"/>
              </a:rPr>
              <a:t> online,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pemasaran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melalui</a:t>
            </a:r>
            <a:r>
              <a:rPr lang="en-US" b="0" i="0" dirty="0">
                <a:effectLst/>
                <a:latin typeface="Roboto" panose="02000000000000000000" pitchFamily="2" charset="0"/>
              </a:rPr>
              <a:t> internet,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pengiriman</a:t>
            </a:r>
            <a:r>
              <a:rPr lang="en-US" b="0" i="0" dirty="0">
                <a:effectLst/>
                <a:latin typeface="Roboto" panose="02000000000000000000" pitchFamily="2" charset="0"/>
              </a:rPr>
              <a:t> yang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bisa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dilakukan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dari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rumah</a:t>
            </a:r>
            <a:r>
              <a:rPr lang="en-US" b="0" i="0" dirty="0">
                <a:effectLst/>
                <a:latin typeface="Roboto" panose="02000000000000000000" pitchFamily="2" charset="0"/>
              </a:rPr>
              <a:t> dan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langsung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sampai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didepan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rumah</a:t>
            </a:r>
            <a:r>
              <a:rPr lang="en-US" b="0" i="0" dirty="0">
                <a:effectLst/>
                <a:latin typeface="Roboto" panose="02000000000000000000" pitchFamily="2" charset="0"/>
              </a:rPr>
              <a:t> customer,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pengembalian</a:t>
            </a:r>
            <a:r>
              <a:rPr lang="en-US" b="0" i="0" dirty="0">
                <a:effectLst/>
                <a:latin typeface="Roboto" panose="02000000000000000000" pitchFamily="2" charset="0"/>
              </a:rPr>
              <a:t> dan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penukaran</a:t>
            </a:r>
            <a:r>
              <a:rPr lang="en-US" b="0" i="0" dirty="0">
                <a:effectLst/>
                <a:latin typeface="Roboto" panose="02000000000000000000" pitchFamily="2" charset="0"/>
              </a:rPr>
              <a:t> yang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lebih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mudah</a:t>
            </a:r>
            <a:r>
              <a:rPr lang="en-US" b="0" i="0" dirty="0">
                <a:effectLst/>
                <a:latin typeface="Roboto" panose="02000000000000000000" pitchFamily="2" charset="0"/>
              </a:rPr>
              <a:t>,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dll</a:t>
            </a:r>
            <a:r>
              <a:rPr lang="en-US" b="0" i="0" dirty="0">
                <a:effectLst/>
                <a:latin typeface="Roboto" panose="02000000000000000000" pitchFamily="2" charset="0"/>
              </a:rPr>
              <a:t>. 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dirty="0" err="1"/>
              <a:t>Olist</a:t>
            </a:r>
            <a:r>
              <a:rPr lang="en-US" dirty="0"/>
              <a:t> Store </a:t>
            </a:r>
            <a:r>
              <a:rPr lang="en-US" dirty="0" err="1"/>
              <a:t>merupakan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E-commerce yang </a:t>
            </a:r>
            <a:r>
              <a:rPr lang="en-US" dirty="0" err="1"/>
              <a:t>berpusat</a:t>
            </a:r>
            <a:r>
              <a:rPr lang="en-US" dirty="0"/>
              <a:t> di Sao Paulo, Brazil. </a:t>
            </a:r>
            <a:r>
              <a:rPr lang="en-US" dirty="0" err="1"/>
              <a:t>Olist</a:t>
            </a:r>
            <a:r>
              <a:rPr lang="en-US" dirty="0"/>
              <a:t> Store </a:t>
            </a:r>
            <a:r>
              <a:rPr lang="en-US" dirty="0" err="1"/>
              <a:t>membagikan</a:t>
            </a:r>
            <a:r>
              <a:rPr lang="en-US" dirty="0"/>
              <a:t> dataset </a:t>
            </a:r>
            <a:r>
              <a:rPr lang="en-US" dirty="0" err="1"/>
              <a:t>mereka</a:t>
            </a:r>
            <a:r>
              <a:rPr lang="en-US" dirty="0"/>
              <a:t> yang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sekitar</a:t>
            </a:r>
            <a:r>
              <a:rPr lang="en-US" dirty="0"/>
              <a:t> 100.000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2016 </a:t>
            </a:r>
            <a:r>
              <a:rPr lang="en-US" dirty="0" err="1"/>
              <a:t>hingga</a:t>
            </a:r>
            <a:r>
              <a:rPr lang="en-US" dirty="0"/>
              <a:t> 2018.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macam</a:t>
            </a:r>
            <a:r>
              <a:rPr lang="en-US" dirty="0"/>
              <a:t> </a:t>
            </a:r>
            <a:r>
              <a:rPr lang="en-US" dirty="0" err="1"/>
              <a:t>dimensi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order status, </a:t>
            </a:r>
            <a:r>
              <a:rPr lang="en-US" dirty="0" err="1"/>
              <a:t>harga</a:t>
            </a:r>
            <a:r>
              <a:rPr lang="en-US" dirty="0"/>
              <a:t>, </a:t>
            </a:r>
            <a:r>
              <a:rPr lang="en-US" dirty="0" err="1"/>
              <a:t>lokasi</a:t>
            </a:r>
            <a:r>
              <a:rPr lang="en-US" dirty="0"/>
              <a:t> customer, dan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8734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0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4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2B6088-4676-CADF-02F7-81089CF3ABCD}"/>
              </a:ext>
            </a:extLst>
          </p:cNvPr>
          <p:cNvSpPr/>
          <p:nvPr/>
        </p:nvSpPr>
        <p:spPr>
          <a:xfrm>
            <a:off x="7275443" y="-33475"/>
            <a:ext cx="4976072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Montserrat SemiBold" panose="00000700000000000000" pitchFamily="2" charset="0"/>
                <a:cs typeface="Arial" panose="020B0604020202020204" pitchFamily="34" charset="0"/>
              </a:rPr>
              <a:t>Project Background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D6366-F04F-58A0-6B52-6F0B476D3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52396" indent="0">
              <a:buNone/>
            </a:pPr>
            <a:r>
              <a:rPr lang="en-US" b="0" i="0" dirty="0" err="1">
                <a:effectLst/>
                <a:latin typeface="Roboto" panose="02000000000000000000" pitchFamily="2" charset="0"/>
              </a:rPr>
              <a:t>Dalam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analisis</a:t>
            </a:r>
            <a:r>
              <a:rPr lang="en-US" b="0" i="0" dirty="0">
                <a:effectLst/>
                <a:latin typeface="Roboto" panose="02000000000000000000" pitchFamily="2" charset="0"/>
              </a:rPr>
              <a:t> data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Olist</a:t>
            </a:r>
            <a:r>
              <a:rPr lang="en-US" b="0" i="0" dirty="0">
                <a:effectLst/>
                <a:latin typeface="Roboto" panose="02000000000000000000" pitchFamily="2" charset="0"/>
              </a:rPr>
              <a:t> e-commerce, background yang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perlu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dipahami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adalah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informasi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terkait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dengan</a:t>
            </a:r>
            <a:r>
              <a:rPr lang="en-US" b="0" i="0" dirty="0">
                <a:effectLst/>
                <a:latin typeface="Roboto" panose="02000000000000000000" pitchFamily="2" charset="0"/>
              </a:rPr>
              <a:t> data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transaksi</a:t>
            </a:r>
            <a:r>
              <a:rPr lang="en-US" b="0" i="0" dirty="0">
                <a:effectLst/>
                <a:latin typeface="Roboto" panose="02000000000000000000" pitchFamily="2" charset="0"/>
              </a:rPr>
              <a:t> yang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tersedia</a:t>
            </a:r>
            <a:r>
              <a:rPr lang="en-US" b="0" i="0" dirty="0">
                <a:effectLst/>
                <a:latin typeface="Roboto" panose="02000000000000000000" pitchFamily="2" charset="0"/>
              </a:rPr>
              <a:t>. Data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tersebut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meliputi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informasi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tentang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produk</a:t>
            </a:r>
            <a:r>
              <a:rPr lang="en-US" b="0" i="0" dirty="0">
                <a:effectLst/>
                <a:latin typeface="Roboto" panose="02000000000000000000" pitchFamily="2" charset="0"/>
              </a:rPr>
              <a:t> yang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terjual</a:t>
            </a:r>
            <a:r>
              <a:rPr lang="en-US" b="0" i="0" dirty="0">
                <a:effectLst/>
                <a:latin typeface="Roboto" panose="02000000000000000000" pitchFamily="2" charset="0"/>
              </a:rPr>
              <a:t>,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informasi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tentang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penjual</a:t>
            </a:r>
            <a:r>
              <a:rPr lang="en-US" b="0" i="0" dirty="0">
                <a:effectLst/>
                <a:latin typeface="Roboto" panose="02000000000000000000" pitchFamily="2" charset="0"/>
              </a:rPr>
              <a:t> dan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pembeli</a:t>
            </a:r>
            <a:r>
              <a:rPr lang="en-US" b="0" i="0" dirty="0">
                <a:effectLst/>
                <a:latin typeface="Roboto" panose="02000000000000000000" pitchFamily="2" charset="0"/>
              </a:rPr>
              <a:t>,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serta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informasi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terkait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dengan</a:t>
            </a:r>
            <a:r>
              <a:rPr lang="en-US" b="0" i="0" dirty="0">
                <a:effectLst/>
                <a:latin typeface="Roboto" panose="02000000000000000000" pitchFamily="2" charset="0"/>
              </a:rPr>
              <a:t> proses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transaksi</a:t>
            </a:r>
            <a:r>
              <a:rPr lang="en-US" b="0" i="0" dirty="0">
                <a:effectLst/>
                <a:latin typeface="Roboto" panose="02000000000000000000" pitchFamily="2" charset="0"/>
              </a:rPr>
              <a:t> yang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terjadi</a:t>
            </a:r>
            <a:r>
              <a:rPr lang="en-US" b="0" i="0" dirty="0">
                <a:effectLst/>
                <a:latin typeface="Roboto" panose="02000000000000000000" pitchFamily="2" charset="0"/>
              </a:rPr>
              <a:t>.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Selain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itu</a:t>
            </a:r>
            <a:r>
              <a:rPr lang="en-US" b="0" i="0" dirty="0">
                <a:effectLst/>
                <a:latin typeface="Roboto" panose="02000000000000000000" pitchFamily="2" charset="0"/>
              </a:rPr>
              <a:t>, data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Olist</a:t>
            </a:r>
            <a:r>
              <a:rPr lang="en-US" b="0" i="0" dirty="0">
                <a:effectLst/>
                <a:latin typeface="Roboto" panose="02000000000000000000" pitchFamily="2" charset="0"/>
              </a:rPr>
              <a:t> e-commerce juga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mencakup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informasi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tentang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penilaian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dari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pembeli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terhadap</a:t>
            </a:r>
            <a:r>
              <a:rPr lang="en-US" b="0" i="0" dirty="0"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produk</a:t>
            </a:r>
            <a:r>
              <a:rPr lang="en-US" b="0" i="0" dirty="0">
                <a:effectLst/>
                <a:latin typeface="Roboto" panose="02000000000000000000" pitchFamily="2" charset="0"/>
              </a:rPr>
              <a:t> dan 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penjual</a:t>
            </a:r>
            <a:r>
              <a:rPr lang="en-US" b="0" i="0" dirty="0">
                <a:effectLst/>
                <a:latin typeface="Roboto" panose="02000000000000000000" pitchFamily="2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62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6016" y="0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5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2B6088-4676-CADF-02F7-81089CF3ABCD}"/>
              </a:ext>
            </a:extLst>
          </p:cNvPr>
          <p:cNvSpPr/>
          <p:nvPr/>
        </p:nvSpPr>
        <p:spPr>
          <a:xfrm>
            <a:off x="7209183" y="-33475"/>
            <a:ext cx="5042332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Montserrat SemiBold" panose="00000700000000000000" pitchFamily="2" charset="0"/>
                <a:cs typeface="Arial" panose="020B0604020202020204" pitchFamily="34" charset="0"/>
              </a:rPr>
              <a:t>Project Background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D6366-F04F-58A0-6B52-6F0B476D3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52396" indent="0">
              <a:buNone/>
            </a:pPr>
            <a:r>
              <a:rPr lang="en-US" dirty="0"/>
              <a:t>Problem Statement :</a:t>
            </a:r>
          </a:p>
          <a:p>
            <a:pPr marL="152396" indent="0">
              <a:buNone/>
            </a:pPr>
            <a:endParaRPr lang="en-US" dirty="0"/>
          </a:p>
          <a:p>
            <a:pPr marL="666746" indent="-514350">
              <a:buFont typeface="+mj-lt"/>
              <a:buAutoNum type="arabicPeriod"/>
            </a:pPr>
            <a:r>
              <a:rPr lang="en-US" dirty="0" err="1"/>
              <a:t>Bagaimana</a:t>
            </a:r>
            <a:r>
              <a:rPr lang="en-US" dirty="0"/>
              <a:t> Pola </a:t>
            </a:r>
            <a:r>
              <a:rPr lang="en-US" dirty="0" err="1"/>
              <a:t>Transaksi</a:t>
            </a:r>
            <a:r>
              <a:rPr lang="en-US" dirty="0"/>
              <a:t>,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Pembayaran</a:t>
            </a:r>
            <a:r>
              <a:rPr lang="en-US" dirty="0"/>
              <a:t>, </a:t>
            </a:r>
            <a:r>
              <a:rPr lang="en-US" dirty="0" err="1"/>
              <a:t>Produk</a:t>
            </a:r>
            <a:r>
              <a:rPr lang="en-US" dirty="0"/>
              <a:t> yang di </a:t>
            </a:r>
            <a:r>
              <a:rPr lang="en-US" dirty="0" err="1"/>
              <a:t>jual</a:t>
            </a:r>
            <a:r>
              <a:rPr lang="en-US" dirty="0"/>
              <a:t> pada platform </a:t>
            </a:r>
            <a:r>
              <a:rPr lang="en-US" dirty="0" err="1"/>
              <a:t>Olist</a:t>
            </a:r>
            <a:r>
              <a:rPr lang="en-US" dirty="0"/>
              <a:t>?</a:t>
            </a:r>
          </a:p>
          <a:p>
            <a:pPr marL="666746" indent="-514350">
              <a:buFont typeface="+mj-lt"/>
              <a:buAutoNum type="arabicPeriod"/>
            </a:pP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pertumbuhan</a:t>
            </a:r>
            <a:r>
              <a:rPr lang="en-US" dirty="0"/>
              <a:t> New Customer pada </a:t>
            </a:r>
            <a:r>
              <a:rPr lang="en-US" dirty="0" err="1"/>
              <a:t>rentang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?</a:t>
            </a:r>
          </a:p>
          <a:p>
            <a:pPr marL="666746" indent="-514350">
              <a:buFont typeface="+mj-lt"/>
              <a:buAutoNum type="arabicPeriod"/>
            </a:pP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kepuasan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dan </a:t>
            </a:r>
            <a:r>
              <a:rPr lang="en-US" dirty="0" err="1"/>
              <a:t>layanan</a:t>
            </a:r>
            <a:r>
              <a:rPr lang="en-US" dirty="0"/>
              <a:t> yang </a:t>
            </a:r>
            <a:r>
              <a:rPr lang="en-US" dirty="0" err="1"/>
              <a:t>diberikan</a:t>
            </a:r>
            <a:r>
              <a:rPr lang="en-US" dirty="0"/>
              <a:t> oleh </a:t>
            </a:r>
            <a:r>
              <a:rPr lang="en-US" dirty="0" err="1"/>
              <a:t>penjual</a:t>
            </a:r>
            <a:r>
              <a:rPr lang="en-US" dirty="0"/>
              <a:t> di platform </a:t>
            </a:r>
            <a:r>
              <a:rPr lang="en-US" dirty="0" err="1"/>
              <a:t>Olist</a:t>
            </a:r>
            <a:r>
              <a:rPr lang="en-US" dirty="0"/>
              <a:t>?</a:t>
            </a:r>
          </a:p>
          <a:p>
            <a:pPr marL="666746" indent="-514350">
              <a:buFont typeface="+mj-lt"/>
              <a:buAutoNum type="arabicPeriod"/>
            </a:pP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pembelian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masing-masing </a:t>
            </a:r>
            <a:r>
              <a:rPr lang="en-US" dirty="0" err="1"/>
              <a:t>pelanggan</a:t>
            </a:r>
            <a:r>
              <a:rPr lang="en-US" dirty="0"/>
              <a:t>,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mereka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</a:t>
            </a:r>
            <a:r>
              <a:rPr lang="en-US" dirty="0" err="1"/>
              <a:t>aktif</a:t>
            </a:r>
            <a:r>
              <a:rPr lang="en-US" dirty="0"/>
              <a:t>, </a:t>
            </a:r>
            <a:r>
              <a:rPr lang="en-US" dirty="0" err="1"/>
              <a:t>pelanggan</a:t>
            </a:r>
            <a:r>
              <a:rPr lang="en-US" dirty="0"/>
              <a:t> yang </a:t>
            </a:r>
            <a:r>
              <a:rPr lang="en-US" dirty="0" err="1"/>
              <a:t>jarang</a:t>
            </a:r>
            <a:r>
              <a:rPr lang="en-US" dirty="0"/>
              <a:t> </a:t>
            </a:r>
            <a:r>
              <a:rPr lang="en-US" dirty="0" err="1"/>
              <a:t>membeli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 </a:t>
            </a:r>
            <a:r>
              <a:rPr lang="en-US" dirty="0" err="1"/>
              <a:t>membeli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73522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6016" y="0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6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2B6088-4676-CADF-02F7-81089CF3ABCD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Montserrat SemiBold" panose="00000700000000000000" pitchFamily="2" charset="0"/>
                <a:cs typeface="Arial" panose="020B0604020202020204" pitchFamily="34" charset="0"/>
              </a:rPr>
              <a:t>Dataset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D6366-F04F-58A0-6B52-6F0B476D3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2160103"/>
            <a:ext cx="11360800" cy="3931729"/>
          </a:xfrm>
        </p:spPr>
        <p:txBody>
          <a:bodyPr>
            <a:normAutofit/>
          </a:bodyPr>
          <a:lstStyle/>
          <a:p>
            <a:pPr marL="152396" indent="0">
              <a:buNone/>
            </a:pPr>
            <a:r>
              <a:rPr lang="en-US" dirty="0"/>
              <a:t>	Dataset </a:t>
            </a:r>
            <a:r>
              <a:rPr lang="en-US" dirty="0" err="1"/>
              <a:t>Olist</a:t>
            </a:r>
            <a:r>
              <a:rPr lang="en-US" dirty="0"/>
              <a:t> e-commerce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yang </a:t>
            </a:r>
            <a:r>
              <a:rPr lang="en-US" dirty="0" err="1"/>
              <a:t>mencakup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pesanan</a:t>
            </a:r>
            <a:r>
              <a:rPr lang="en-US" dirty="0"/>
              <a:t>, </a:t>
            </a:r>
            <a:r>
              <a:rPr lang="en-US" dirty="0" err="1"/>
              <a:t>produk</a:t>
            </a:r>
            <a:r>
              <a:rPr lang="en-US" dirty="0"/>
              <a:t>, </a:t>
            </a:r>
            <a:r>
              <a:rPr lang="en-US" dirty="0" err="1"/>
              <a:t>pelanggan</a:t>
            </a:r>
            <a:r>
              <a:rPr lang="en-US" dirty="0"/>
              <a:t>, </a:t>
            </a:r>
            <a:r>
              <a:rPr lang="en-US" dirty="0" err="1"/>
              <a:t>penjual</a:t>
            </a:r>
            <a:r>
              <a:rPr lang="en-US" dirty="0"/>
              <a:t>, </a:t>
            </a:r>
            <a:r>
              <a:rPr lang="en-US" dirty="0" err="1"/>
              <a:t>ulasan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, dan </a:t>
            </a:r>
            <a:r>
              <a:rPr lang="en-US" dirty="0" err="1"/>
              <a:t>sebagainya</a:t>
            </a:r>
            <a:r>
              <a:rPr lang="en-US" dirty="0"/>
              <a:t>.</a:t>
            </a:r>
          </a:p>
          <a:p>
            <a:pPr marL="152396" indent="0">
              <a:buNone/>
            </a:pPr>
            <a:r>
              <a:rPr lang="en-US" dirty="0"/>
              <a:t>	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kali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Table Orders, Products, Customers, Sellers dan Geolocation.</a:t>
            </a:r>
          </a:p>
        </p:txBody>
      </p:sp>
    </p:spTree>
    <p:extLst>
      <p:ext uri="{BB962C8B-B14F-4D97-AF65-F5344CB8AC3E}">
        <p14:creationId xmlns:p14="http://schemas.microsoft.com/office/powerpoint/2010/main" val="2129667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6016" y="0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7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2B6088-4676-CADF-02F7-81089CF3ABCD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Montserrat SemiBold" panose="00000700000000000000" pitchFamily="2" charset="0"/>
                <a:cs typeface="Arial" panose="020B0604020202020204" pitchFamily="34" charset="0"/>
              </a:rPr>
              <a:t>Dataset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D6366-F04F-58A0-6B52-6F0B476D3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097" y="1470991"/>
            <a:ext cx="11360800" cy="4253948"/>
          </a:xfrm>
        </p:spPr>
        <p:txBody>
          <a:bodyPr>
            <a:normAutofit fontScale="70000" lnSpcReduction="20000"/>
          </a:bodyPr>
          <a:lstStyle/>
          <a:p>
            <a:pPr marL="666746" indent="-514350">
              <a:buFont typeface="+mj-lt"/>
              <a:buAutoNum type="arabicPeriod"/>
            </a:pPr>
            <a:r>
              <a:rPr lang="en-US" b="1" dirty="0" err="1"/>
              <a:t>Tabel</a:t>
            </a:r>
            <a:r>
              <a:rPr lang="en-US" b="1" dirty="0"/>
              <a:t> </a:t>
            </a:r>
            <a:r>
              <a:rPr lang="en-US" b="1" dirty="0" err="1"/>
              <a:t>Produk</a:t>
            </a:r>
            <a:r>
              <a:rPr lang="en-US" b="1" dirty="0"/>
              <a:t> (products):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dijual</a:t>
            </a:r>
            <a:r>
              <a:rPr lang="en-US" dirty="0"/>
              <a:t> di platform </a:t>
            </a:r>
            <a:r>
              <a:rPr lang="en-US" dirty="0" err="1"/>
              <a:t>Olist</a:t>
            </a:r>
            <a:r>
              <a:rPr lang="en-US" dirty="0"/>
              <a:t>.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id </a:t>
            </a:r>
            <a:r>
              <a:rPr lang="en-US" dirty="0" err="1"/>
              <a:t>produk</a:t>
            </a:r>
            <a:r>
              <a:rPr lang="en-US" dirty="0"/>
              <a:t>,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, </a:t>
            </a:r>
            <a:r>
              <a:rPr lang="en-US" dirty="0" err="1"/>
              <a:t>deskripsi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,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, </a:t>
            </a:r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, dan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pPr marL="666746" indent="-514350">
              <a:buFont typeface="+mj-lt"/>
              <a:buAutoNum type="arabicPeriod"/>
            </a:pPr>
            <a:r>
              <a:rPr lang="en-US" b="1" dirty="0" err="1"/>
              <a:t>Tabel</a:t>
            </a:r>
            <a:r>
              <a:rPr lang="en-US" b="1" dirty="0"/>
              <a:t> </a:t>
            </a:r>
            <a:r>
              <a:rPr lang="en-US" b="1" dirty="0" err="1"/>
              <a:t>Pelanggan</a:t>
            </a:r>
            <a:r>
              <a:rPr lang="en-US" b="1" dirty="0"/>
              <a:t> (customers):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yang </a:t>
            </a:r>
            <a:r>
              <a:rPr lang="en-US" dirty="0" err="1"/>
              <a:t>menggunakan</a:t>
            </a:r>
            <a:r>
              <a:rPr lang="en-US" dirty="0"/>
              <a:t> platform </a:t>
            </a:r>
            <a:r>
              <a:rPr lang="en-US" dirty="0" err="1"/>
              <a:t>Olist</a:t>
            </a:r>
            <a:r>
              <a:rPr lang="en-US" dirty="0"/>
              <a:t>.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id </a:t>
            </a:r>
            <a:r>
              <a:rPr lang="en-US" dirty="0" err="1"/>
              <a:t>pelanggan</a:t>
            </a:r>
            <a:r>
              <a:rPr lang="en-US" dirty="0"/>
              <a:t>, zip code </a:t>
            </a:r>
            <a:r>
              <a:rPr lang="en-US" dirty="0" err="1"/>
              <a:t>pelanggan</a:t>
            </a:r>
            <a:r>
              <a:rPr lang="en-US" dirty="0"/>
              <a:t>, </a:t>
            </a:r>
            <a:r>
              <a:rPr lang="en-US" dirty="0" err="1"/>
              <a:t>kota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, dan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pPr marL="666746" indent="-514350">
              <a:buFont typeface="+mj-lt"/>
              <a:buAutoNum type="arabicPeriod"/>
            </a:pPr>
            <a:r>
              <a:rPr lang="en-US" b="1" dirty="0" err="1"/>
              <a:t>Tabel</a:t>
            </a:r>
            <a:r>
              <a:rPr lang="en-US" b="1" dirty="0"/>
              <a:t> </a:t>
            </a:r>
            <a:r>
              <a:rPr lang="en-US" b="1" dirty="0" err="1"/>
              <a:t>Pesanan</a:t>
            </a:r>
            <a:r>
              <a:rPr lang="en-US" b="1" dirty="0"/>
              <a:t> (orders):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pesanan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 oleh </a:t>
            </a:r>
            <a:r>
              <a:rPr lang="en-US" dirty="0" err="1"/>
              <a:t>pelanggan</a:t>
            </a:r>
            <a:r>
              <a:rPr lang="en-US" dirty="0"/>
              <a:t> di platform </a:t>
            </a:r>
            <a:r>
              <a:rPr lang="en-US" dirty="0" err="1"/>
              <a:t>Olist</a:t>
            </a:r>
            <a:r>
              <a:rPr lang="en-US" dirty="0"/>
              <a:t>.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pesanan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id </a:t>
            </a:r>
            <a:r>
              <a:rPr lang="en-US" dirty="0" err="1"/>
              <a:t>pesanan</a:t>
            </a:r>
            <a:r>
              <a:rPr lang="en-US" dirty="0"/>
              <a:t>, id </a:t>
            </a:r>
            <a:r>
              <a:rPr lang="en-US" dirty="0" err="1"/>
              <a:t>pelanggan</a:t>
            </a:r>
            <a:r>
              <a:rPr lang="en-US" dirty="0"/>
              <a:t>, </a:t>
            </a:r>
            <a:r>
              <a:rPr lang="en-US" dirty="0" err="1"/>
              <a:t>tanggal</a:t>
            </a:r>
            <a:r>
              <a:rPr lang="en-US" dirty="0"/>
              <a:t> </a:t>
            </a:r>
            <a:r>
              <a:rPr lang="en-US" dirty="0" err="1"/>
              <a:t>pesanan</a:t>
            </a:r>
            <a:r>
              <a:rPr lang="en-US" dirty="0"/>
              <a:t>, total </a:t>
            </a:r>
            <a:r>
              <a:rPr lang="en-US" dirty="0" err="1"/>
              <a:t>harga</a:t>
            </a:r>
            <a:r>
              <a:rPr lang="en-US" dirty="0"/>
              <a:t>, status </a:t>
            </a:r>
            <a:r>
              <a:rPr lang="en-US" dirty="0" err="1"/>
              <a:t>pesanan</a:t>
            </a:r>
            <a:r>
              <a:rPr lang="en-US" dirty="0"/>
              <a:t>, dan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. </a:t>
            </a:r>
          </a:p>
          <a:p>
            <a:pPr marL="666746" indent="-514350">
              <a:buFont typeface="+mj-lt"/>
              <a:buAutoNum type="arabicPeriod"/>
            </a:pPr>
            <a:r>
              <a:rPr lang="en-US" b="1" dirty="0" err="1"/>
              <a:t>Tabel</a:t>
            </a:r>
            <a:r>
              <a:rPr lang="en-US" b="1" dirty="0"/>
              <a:t> </a:t>
            </a:r>
            <a:r>
              <a:rPr lang="en-US" b="1" dirty="0" err="1"/>
              <a:t>Penjual</a:t>
            </a:r>
            <a:r>
              <a:rPr lang="en-US" b="1" dirty="0"/>
              <a:t> (sellers):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penjual</a:t>
            </a:r>
            <a:r>
              <a:rPr lang="en-US" dirty="0"/>
              <a:t> yang </a:t>
            </a:r>
            <a:r>
              <a:rPr lang="en-US" dirty="0" err="1"/>
              <a:t>menjual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di platform </a:t>
            </a:r>
            <a:r>
              <a:rPr lang="en-US" dirty="0" err="1"/>
              <a:t>Olist</a:t>
            </a:r>
            <a:r>
              <a:rPr lang="en-US" dirty="0"/>
              <a:t>.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penjual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id </a:t>
            </a:r>
            <a:r>
              <a:rPr lang="en-US" dirty="0" err="1"/>
              <a:t>penjual</a:t>
            </a:r>
            <a:r>
              <a:rPr lang="en-US" dirty="0"/>
              <a:t>, </a:t>
            </a:r>
            <a:r>
              <a:rPr lang="en-US" dirty="0" err="1"/>
              <a:t>domisili</a:t>
            </a:r>
            <a:r>
              <a:rPr lang="en-US" dirty="0"/>
              <a:t> </a:t>
            </a:r>
            <a:r>
              <a:rPr lang="en-US" dirty="0" err="1"/>
              <a:t>penjual</a:t>
            </a:r>
            <a:r>
              <a:rPr lang="en-US" dirty="0"/>
              <a:t>, dan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pPr marL="666746" indent="-514350">
              <a:buFont typeface="+mj-lt"/>
              <a:buAutoNum type="arabicPeriod"/>
            </a:pPr>
            <a:r>
              <a:rPr lang="en-US" b="1" dirty="0" err="1"/>
              <a:t>Tabel</a:t>
            </a:r>
            <a:r>
              <a:rPr lang="en-US" b="1" dirty="0"/>
              <a:t> Geolocation :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geografis</a:t>
            </a:r>
            <a:r>
              <a:rPr lang="en-US" dirty="0"/>
              <a:t> di platform </a:t>
            </a:r>
            <a:r>
              <a:rPr lang="en-US" dirty="0" err="1"/>
              <a:t>Olist</a:t>
            </a:r>
            <a:r>
              <a:rPr lang="en-US" dirty="0"/>
              <a:t>.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Kode pos, Latitude, Longitude.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21020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6016" y="0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8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2B6088-4676-CADF-02F7-81089CF3ABCD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Montserrat SemiBold" panose="00000700000000000000" pitchFamily="2" charset="0"/>
                <a:cs typeface="Arial" panose="020B0604020202020204" pitchFamily="34" charset="0"/>
              </a:rPr>
              <a:t>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3F4B13-792D-638B-0A73-390362107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765" y="1479231"/>
            <a:ext cx="7394469" cy="4449769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4255AE1-F566-6BC4-E03F-56F9C5E41F16}"/>
              </a:ext>
            </a:extLst>
          </p:cNvPr>
          <p:cNvSpPr txBox="1">
            <a:spLocks/>
          </p:cNvSpPr>
          <p:nvPr/>
        </p:nvSpPr>
        <p:spPr>
          <a:xfrm>
            <a:off x="545732" y="5927433"/>
            <a:ext cx="3323903" cy="3575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77500" lnSpcReduction="20000"/>
          </a:bodyPr>
          <a:lstStyle>
            <a:lvl1pPr marL="609585" lvl="0" indent="-457189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>
              <a:buFont typeface="Arial" panose="020B0604020202020204" pitchFamily="34" charset="0"/>
              <a:buNone/>
            </a:pPr>
            <a:r>
              <a:rPr lang="fr-FR" sz="1050" b="0" i="0" dirty="0">
                <a:solidFill>
                  <a:srgbClr val="757575"/>
                </a:solidFill>
                <a:effectLst/>
                <a:latin typeface="sohne"/>
              </a:rPr>
              <a:t>image source[</a:t>
            </a:r>
            <a:r>
              <a:rPr lang="fr-FR" sz="1050" b="0" i="0" u="sng" dirty="0">
                <a:effectLst/>
                <a:latin typeface="sohne"/>
                <a:hlinkClick r:id="rId5"/>
              </a:rPr>
              <a:t>https://www.kaggle.com/olistbr/brazilian-ecommerce</a:t>
            </a:r>
            <a:r>
              <a:rPr lang="fr-FR" sz="1050" b="0" i="0" dirty="0">
                <a:solidFill>
                  <a:srgbClr val="757575"/>
                </a:solidFill>
                <a:effectLst/>
                <a:latin typeface="sohne"/>
              </a:rPr>
              <a:t>]</a:t>
            </a:r>
            <a:endParaRPr lang="en-US" sz="1400" dirty="0"/>
          </a:p>
        </p:txBody>
      </p:sp>
      <p:sp>
        <p:nvSpPr>
          <p:cNvPr id="8" name="Google Shape;109;g117bea95534_3_28">
            <a:extLst>
              <a:ext uri="{FF2B5EF4-FFF2-40B4-BE49-F238E27FC236}">
                <a16:creationId xmlns:a16="http://schemas.microsoft.com/office/drawing/2014/main" id="{12055D5B-1B21-D832-88A5-F7F32D79CE81}"/>
              </a:ext>
            </a:extLst>
          </p:cNvPr>
          <p:cNvSpPr txBox="1"/>
          <p:nvPr/>
        </p:nvSpPr>
        <p:spPr>
          <a:xfrm>
            <a:off x="4115244" y="872211"/>
            <a:ext cx="3908505" cy="472655"/>
          </a:xfrm>
          <a:prstGeom prst="rect">
            <a:avLst/>
          </a:prstGeom>
          <a:solidFill>
            <a:srgbClr val="F0EBFD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373474"/>
              </a:buClr>
              <a:buSzPts val="2400"/>
            </a:pPr>
            <a:r>
              <a:rPr lang="en-US" sz="2667" b="1" dirty="0">
                <a:solidFill>
                  <a:srgbClr val="351C75"/>
                </a:solidFill>
                <a:latin typeface="Montserrat"/>
                <a:ea typeface="Montserrat"/>
                <a:cs typeface="Montserrat"/>
                <a:sym typeface="Montserrat"/>
              </a:rPr>
              <a:t>Data Schema</a:t>
            </a:r>
          </a:p>
        </p:txBody>
      </p:sp>
    </p:spTree>
    <p:extLst>
      <p:ext uri="{BB962C8B-B14F-4D97-AF65-F5344CB8AC3E}">
        <p14:creationId xmlns:p14="http://schemas.microsoft.com/office/powerpoint/2010/main" val="3630053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117bea95534_3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117bea95534_3_28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9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8" name="Google Shape;108;g117bea95534_3_28"/>
          <p:cNvSpPr txBox="1"/>
          <p:nvPr/>
        </p:nvSpPr>
        <p:spPr>
          <a:xfrm>
            <a:off x="3475700" y="1161800"/>
            <a:ext cx="6116400" cy="5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373474"/>
              </a:buClr>
              <a:buSzPts val="2400"/>
            </a:pPr>
            <a:endParaRPr sz="2667" b="1">
              <a:solidFill>
                <a:srgbClr val="351C7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g117bea95534_3_28"/>
          <p:cNvSpPr txBox="1"/>
          <p:nvPr/>
        </p:nvSpPr>
        <p:spPr>
          <a:xfrm>
            <a:off x="3475700" y="669233"/>
            <a:ext cx="5935200" cy="562400"/>
          </a:xfrm>
          <a:prstGeom prst="rect">
            <a:avLst/>
          </a:prstGeom>
          <a:solidFill>
            <a:srgbClr val="F0EBFD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373474"/>
              </a:buClr>
              <a:buSzPts val="2400"/>
            </a:pPr>
            <a:r>
              <a:rPr lang="en" sz="2667" b="1" dirty="0">
                <a:solidFill>
                  <a:srgbClr val="351C75"/>
                </a:solidFill>
                <a:latin typeface="Montserrat"/>
                <a:ea typeface="Montserrat"/>
                <a:cs typeface="Montserrat"/>
                <a:sym typeface="Montserrat"/>
              </a:rPr>
              <a:t>Method &amp; Workflow Project</a:t>
            </a:r>
            <a:endParaRPr sz="2667" b="1" dirty="0">
              <a:solidFill>
                <a:srgbClr val="351C7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117bea95534_3_28"/>
          <p:cNvSpPr txBox="1"/>
          <p:nvPr/>
        </p:nvSpPr>
        <p:spPr>
          <a:xfrm>
            <a:off x="1001545" y="1528705"/>
            <a:ext cx="44572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Metode yang digunakan</a:t>
            </a:r>
            <a:endParaRPr sz="1733" b="1" dirty="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1" name="Google Shape;111;g117bea95534_3_28"/>
          <p:cNvSpPr/>
          <p:nvPr/>
        </p:nvSpPr>
        <p:spPr>
          <a:xfrm>
            <a:off x="1005362" y="2189415"/>
            <a:ext cx="3118630" cy="603233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FFD96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17bea95534_3_28"/>
          <p:cNvSpPr/>
          <p:nvPr/>
        </p:nvSpPr>
        <p:spPr>
          <a:xfrm>
            <a:off x="5104227" y="2024524"/>
            <a:ext cx="5935200" cy="4260451"/>
          </a:xfrm>
          <a:prstGeom prst="roundRect">
            <a:avLst>
              <a:gd name="adj" fmla="val 16667"/>
            </a:avLst>
          </a:prstGeom>
          <a:solidFill>
            <a:srgbClr val="F0EBFD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117bea95534_3_28"/>
          <p:cNvSpPr txBox="1"/>
          <p:nvPr/>
        </p:nvSpPr>
        <p:spPr>
          <a:xfrm>
            <a:off x="5255255" y="1556949"/>
            <a:ext cx="59352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Workflow</a:t>
            </a:r>
            <a:endParaRPr sz="1733" b="1" dirty="0">
              <a:solidFill>
                <a:srgbClr val="351C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84751955-AF37-CB02-A7AD-5F4D7012F626}"/>
              </a:ext>
            </a:extLst>
          </p:cNvPr>
          <p:cNvSpPr/>
          <p:nvPr/>
        </p:nvSpPr>
        <p:spPr>
          <a:xfrm>
            <a:off x="7203234" y="2123050"/>
            <a:ext cx="1737185" cy="60771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Define stakeholder and analytics objectives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5ED989AE-0FF6-23BD-6C94-3AAE54A7D3A7}"/>
              </a:ext>
            </a:extLst>
          </p:cNvPr>
          <p:cNvSpPr/>
          <p:nvPr/>
        </p:nvSpPr>
        <p:spPr>
          <a:xfrm>
            <a:off x="7203232" y="4661110"/>
            <a:ext cx="1737185" cy="60771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Get some findings and key takeaways</a:t>
            </a: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0617AD41-1ACE-0716-B11A-A32E6EE1F8E6}"/>
              </a:ext>
            </a:extLst>
          </p:cNvPr>
          <p:cNvSpPr/>
          <p:nvPr/>
        </p:nvSpPr>
        <p:spPr>
          <a:xfrm>
            <a:off x="7203231" y="5534653"/>
            <a:ext cx="1737185" cy="60771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Insight and recommendation</a:t>
            </a:r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558E07DD-C73C-505B-2CA9-59B24EF2B734}"/>
              </a:ext>
            </a:extLst>
          </p:cNvPr>
          <p:cNvSpPr/>
          <p:nvPr/>
        </p:nvSpPr>
        <p:spPr>
          <a:xfrm>
            <a:off x="7203232" y="3783322"/>
            <a:ext cx="1737185" cy="60771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Problem discovery</a:t>
            </a: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F65DF4F8-86DC-2142-259D-B3547CD4774B}"/>
              </a:ext>
            </a:extLst>
          </p:cNvPr>
          <p:cNvSpPr/>
          <p:nvPr/>
        </p:nvSpPr>
        <p:spPr>
          <a:xfrm>
            <a:off x="7203232" y="2954096"/>
            <a:ext cx="1737185" cy="60771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Define problem statement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3A519E-7973-D5B6-84E4-CA937103E7A7}"/>
              </a:ext>
            </a:extLst>
          </p:cNvPr>
          <p:cNvCxnSpPr>
            <a:endCxn id="12" idx="0"/>
          </p:cNvCxnSpPr>
          <p:nvPr/>
        </p:nvCxnSpPr>
        <p:spPr>
          <a:xfrm>
            <a:off x="8071824" y="2740351"/>
            <a:ext cx="1" cy="213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52799E-4E85-8EBD-74F1-484CDD081A60}"/>
              </a:ext>
            </a:extLst>
          </p:cNvPr>
          <p:cNvCxnSpPr>
            <a:stCxn id="12" idx="2"/>
            <a:endCxn id="11" idx="0"/>
          </p:cNvCxnSpPr>
          <p:nvPr/>
        </p:nvCxnSpPr>
        <p:spPr>
          <a:xfrm>
            <a:off x="8071825" y="3561811"/>
            <a:ext cx="0" cy="221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6778F2C-8CAD-E9FE-3B31-36BD64057B65}"/>
              </a:ext>
            </a:extLst>
          </p:cNvPr>
          <p:cNvCxnSpPr>
            <a:stCxn id="11" idx="2"/>
            <a:endCxn id="9" idx="0"/>
          </p:cNvCxnSpPr>
          <p:nvPr/>
        </p:nvCxnSpPr>
        <p:spPr>
          <a:xfrm>
            <a:off x="8071825" y="4391037"/>
            <a:ext cx="0" cy="270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007156-671F-A2C7-F4D8-5884A4DE7973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8071824" y="5268825"/>
            <a:ext cx="1" cy="26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11;g117bea95534_3_28">
            <a:extLst>
              <a:ext uri="{FF2B5EF4-FFF2-40B4-BE49-F238E27FC236}">
                <a16:creationId xmlns:a16="http://schemas.microsoft.com/office/drawing/2014/main" id="{CBA30071-00A0-CC63-D341-7DD87DCB6AAF}"/>
              </a:ext>
            </a:extLst>
          </p:cNvPr>
          <p:cNvSpPr/>
          <p:nvPr/>
        </p:nvSpPr>
        <p:spPr>
          <a:xfrm>
            <a:off x="1005362" y="3548841"/>
            <a:ext cx="3118630" cy="603233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FFD96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9A068C-7B79-CAF5-04B4-D24A8782ABD0}"/>
              </a:ext>
            </a:extLst>
          </p:cNvPr>
          <p:cNvCxnSpPr>
            <a:endCxn id="2" idx="0"/>
          </p:cNvCxnSpPr>
          <p:nvPr/>
        </p:nvCxnSpPr>
        <p:spPr>
          <a:xfrm>
            <a:off x="2564677" y="2847223"/>
            <a:ext cx="0" cy="7016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10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78AEB4-FC84-E370-AEBF-433E9C1FFD8D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316BD5-45B7-3B66-2A44-B9EF6E9E4D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213" r="402" b="7195"/>
          <a:stretch/>
        </p:blipFill>
        <p:spPr>
          <a:xfrm>
            <a:off x="2083829" y="1871843"/>
            <a:ext cx="8024341" cy="3783270"/>
          </a:xfrm>
          <a:prstGeom prst="rect">
            <a:avLst/>
          </a:prstGeom>
        </p:spPr>
      </p:pic>
      <p:sp>
        <p:nvSpPr>
          <p:cNvPr id="7" name="Google Shape;110;g117bea95534_3_28">
            <a:extLst>
              <a:ext uri="{FF2B5EF4-FFF2-40B4-BE49-F238E27FC236}">
                <a16:creationId xmlns:a16="http://schemas.microsoft.com/office/drawing/2014/main" id="{0993E154-7C22-BFDB-1590-05D33A8B3B87}"/>
              </a:ext>
            </a:extLst>
          </p:cNvPr>
          <p:cNvSpPr txBox="1"/>
          <p:nvPr/>
        </p:nvSpPr>
        <p:spPr>
          <a:xfrm>
            <a:off x="4080898" y="1384643"/>
            <a:ext cx="44572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Jumlah Transaksi per Bulan</a:t>
            </a:r>
          </a:p>
        </p:txBody>
      </p:sp>
    </p:spTree>
    <p:extLst>
      <p:ext uri="{BB962C8B-B14F-4D97-AF65-F5344CB8AC3E}">
        <p14:creationId xmlns:p14="http://schemas.microsoft.com/office/powerpoint/2010/main" val="586228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11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78AEB4-FC84-E370-AEBF-433E9C1FFD8D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sp>
        <p:nvSpPr>
          <p:cNvPr id="7" name="Google Shape;110;g117bea95534_3_28">
            <a:extLst>
              <a:ext uri="{FF2B5EF4-FFF2-40B4-BE49-F238E27FC236}">
                <a16:creationId xmlns:a16="http://schemas.microsoft.com/office/drawing/2014/main" id="{0993E154-7C22-BFDB-1590-05D33A8B3B87}"/>
              </a:ext>
            </a:extLst>
          </p:cNvPr>
          <p:cNvSpPr txBox="1"/>
          <p:nvPr/>
        </p:nvSpPr>
        <p:spPr>
          <a:xfrm>
            <a:off x="4080898" y="1384643"/>
            <a:ext cx="44572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Jumlah Pembayaran per Bulan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049440-2074-C34E-7C9A-949FA2469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685" y="1883777"/>
            <a:ext cx="7061626" cy="407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09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12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78AEB4-FC84-E370-AEBF-433E9C1FFD8D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sp>
        <p:nvSpPr>
          <p:cNvPr id="7" name="Google Shape;110;g117bea95534_3_28">
            <a:extLst>
              <a:ext uri="{FF2B5EF4-FFF2-40B4-BE49-F238E27FC236}">
                <a16:creationId xmlns:a16="http://schemas.microsoft.com/office/drawing/2014/main" id="{0993E154-7C22-BFDB-1590-05D33A8B3B87}"/>
              </a:ext>
            </a:extLst>
          </p:cNvPr>
          <p:cNvSpPr txBox="1"/>
          <p:nvPr/>
        </p:nvSpPr>
        <p:spPr>
          <a:xfrm>
            <a:off x="3591342" y="1384643"/>
            <a:ext cx="5009314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Top 1O  State Berdasarkan Total Transaksi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4C80EA-E35E-2452-4ED9-737FFD3CE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449" y="1871843"/>
            <a:ext cx="7319101" cy="422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93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13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78AEB4-FC84-E370-AEBF-433E9C1FFD8D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sp>
        <p:nvSpPr>
          <p:cNvPr id="7" name="Google Shape;110;g117bea95534_3_28">
            <a:extLst>
              <a:ext uri="{FF2B5EF4-FFF2-40B4-BE49-F238E27FC236}">
                <a16:creationId xmlns:a16="http://schemas.microsoft.com/office/drawing/2014/main" id="{0993E154-7C22-BFDB-1590-05D33A8B3B87}"/>
              </a:ext>
            </a:extLst>
          </p:cNvPr>
          <p:cNvSpPr txBox="1"/>
          <p:nvPr/>
        </p:nvSpPr>
        <p:spPr>
          <a:xfrm>
            <a:off x="3591342" y="1384643"/>
            <a:ext cx="5009314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Top 1O  State Berdasarkan Total Transaksi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B82F0-C7AE-3A99-0748-B3A89032E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956" y="1858396"/>
            <a:ext cx="7270087" cy="419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14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962CD7-4CA0-0FAE-4C6C-BB03BC036E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583" t="-1466" r="28810" b="7261"/>
          <a:stretch/>
        </p:blipFill>
        <p:spPr>
          <a:xfrm>
            <a:off x="4177553" y="1871843"/>
            <a:ext cx="3836894" cy="3899180"/>
          </a:xfrm>
          <a:prstGeom prst="rect">
            <a:avLst/>
          </a:prstGeom>
        </p:spPr>
      </p:pic>
      <p:sp>
        <p:nvSpPr>
          <p:cNvPr id="8" name="Google Shape;110;g117bea95534_3_28">
            <a:extLst>
              <a:ext uri="{FF2B5EF4-FFF2-40B4-BE49-F238E27FC236}">
                <a16:creationId xmlns:a16="http://schemas.microsoft.com/office/drawing/2014/main" id="{A6508D14-849E-E223-5CCC-AD7217DCBADA}"/>
              </a:ext>
            </a:extLst>
          </p:cNvPr>
          <p:cNvSpPr txBox="1"/>
          <p:nvPr/>
        </p:nvSpPr>
        <p:spPr>
          <a:xfrm>
            <a:off x="3591342" y="1384643"/>
            <a:ext cx="5009314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Tipe Pembayaran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9AFDA8-A876-F009-8843-3C2530A11B75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003421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15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0F9472-6C8C-8608-19C1-1A7788E69CFF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2636C3-371D-0357-756F-D7F73470B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050" y="1888059"/>
            <a:ext cx="8679899" cy="4074416"/>
          </a:xfrm>
          <a:prstGeom prst="rect">
            <a:avLst/>
          </a:prstGeom>
        </p:spPr>
      </p:pic>
      <p:sp>
        <p:nvSpPr>
          <p:cNvPr id="7" name="Google Shape;110;g117bea95534_3_28">
            <a:extLst>
              <a:ext uri="{FF2B5EF4-FFF2-40B4-BE49-F238E27FC236}">
                <a16:creationId xmlns:a16="http://schemas.microsoft.com/office/drawing/2014/main" id="{EABB937F-5C30-7C7F-803D-123A9B983D03}"/>
              </a:ext>
            </a:extLst>
          </p:cNvPr>
          <p:cNvSpPr txBox="1"/>
          <p:nvPr/>
        </p:nvSpPr>
        <p:spPr>
          <a:xfrm>
            <a:off x="3319670" y="1321958"/>
            <a:ext cx="5552658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Top 10 Produk Berdasarkan Jumlah Tranksaksi</a:t>
            </a:r>
          </a:p>
        </p:txBody>
      </p:sp>
    </p:spTree>
    <p:extLst>
      <p:ext uri="{BB962C8B-B14F-4D97-AF65-F5344CB8AC3E}">
        <p14:creationId xmlns:p14="http://schemas.microsoft.com/office/powerpoint/2010/main" val="1810584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16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B5ACAB-92BE-83AA-27BA-8D689AF97CF2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B4200-D3EF-9008-AC4F-0DC8C0046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539" y="1831250"/>
            <a:ext cx="8800922" cy="4131225"/>
          </a:xfrm>
          <a:prstGeom prst="rect">
            <a:avLst/>
          </a:prstGeom>
        </p:spPr>
      </p:pic>
      <p:sp>
        <p:nvSpPr>
          <p:cNvPr id="5" name="Google Shape;110;g117bea95534_3_28">
            <a:extLst>
              <a:ext uri="{FF2B5EF4-FFF2-40B4-BE49-F238E27FC236}">
                <a16:creationId xmlns:a16="http://schemas.microsoft.com/office/drawing/2014/main" id="{04B2DCE3-A731-AA5A-C4DE-97F4F00D8FF4}"/>
              </a:ext>
            </a:extLst>
          </p:cNvPr>
          <p:cNvSpPr txBox="1"/>
          <p:nvPr/>
        </p:nvSpPr>
        <p:spPr>
          <a:xfrm>
            <a:off x="3082982" y="1182800"/>
            <a:ext cx="6026036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Top 10 Produk Berdasarkan Average Review Score</a:t>
            </a:r>
          </a:p>
        </p:txBody>
      </p:sp>
    </p:spTree>
    <p:extLst>
      <p:ext uri="{BB962C8B-B14F-4D97-AF65-F5344CB8AC3E}">
        <p14:creationId xmlns:p14="http://schemas.microsoft.com/office/powerpoint/2010/main" val="381161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17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D21156-24F1-CBF4-9658-73EE20EA2D19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sp>
        <p:nvSpPr>
          <p:cNvPr id="13" name="Google Shape;110;g117bea95534_3_28">
            <a:extLst>
              <a:ext uri="{FF2B5EF4-FFF2-40B4-BE49-F238E27FC236}">
                <a16:creationId xmlns:a16="http://schemas.microsoft.com/office/drawing/2014/main" id="{31F9A70F-B8B5-18E4-152A-52C728C800C1}"/>
              </a:ext>
            </a:extLst>
          </p:cNvPr>
          <p:cNvSpPr txBox="1"/>
          <p:nvPr/>
        </p:nvSpPr>
        <p:spPr>
          <a:xfrm>
            <a:off x="2079374" y="1109992"/>
            <a:ext cx="8033252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Heatmap Jam Transaksi per Hari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CD196-4398-ECA6-A035-B247893CC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152" y="1708497"/>
            <a:ext cx="5063696" cy="446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162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18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AE9804-06BF-49B3-0C57-6DB6B88EF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071" y="2200197"/>
            <a:ext cx="8103857" cy="3910195"/>
          </a:xfrm>
          <a:prstGeom prst="rect">
            <a:avLst/>
          </a:prstGeom>
        </p:spPr>
      </p:pic>
      <p:sp>
        <p:nvSpPr>
          <p:cNvPr id="4" name="Google Shape;110;g117bea95534_3_28">
            <a:extLst>
              <a:ext uri="{FF2B5EF4-FFF2-40B4-BE49-F238E27FC236}">
                <a16:creationId xmlns:a16="http://schemas.microsoft.com/office/drawing/2014/main" id="{8E9AC3D2-6A7B-D266-AAE3-A4B4F3456D8C}"/>
              </a:ext>
            </a:extLst>
          </p:cNvPr>
          <p:cNvSpPr txBox="1"/>
          <p:nvPr/>
        </p:nvSpPr>
        <p:spPr>
          <a:xfrm>
            <a:off x="3082981" y="1382105"/>
            <a:ext cx="6026036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Jumlah New Customers per Bulan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9E7FEB-D741-906F-8213-2F664032BA35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851268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19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Google Shape;110;g117bea95534_3_28">
            <a:extLst>
              <a:ext uri="{FF2B5EF4-FFF2-40B4-BE49-F238E27FC236}">
                <a16:creationId xmlns:a16="http://schemas.microsoft.com/office/drawing/2014/main" id="{8E9AC3D2-6A7B-D266-AAE3-A4B4F3456D8C}"/>
              </a:ext>
            </a:extLst>
          </p:cNvPr>
          <p:cNvSpPr txBox="1"/>
          <p:nvPr/>
        </p:nvSpPr>
        <p:spPr>
          <a:xfrm>
            <a:off x="3082981" y="1382105"/>
            <a:ext cx="6026036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Total Review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9E7FEB-D741-906F-8213-2F664032BA35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C44E39-9C3B-D591-33BA-89EED6167E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941" t="-262" r="17725" b="4186"/>
          <a:stretch/>
        </p:blipFill>
        <p:spPr>
          <a:xfrm>
            <a:off x="3569073" y="1869305"/>
            <a:ext cx="5053852" cy="429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407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20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EA3857-2D83-61D2-6137-91FD148D2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999" y="1895261"/>
            <a:ext cx="3120190" cy="16483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D21156-24F1-CBF4-9658-73EE20EA2D19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CE92D-DBF3-5634-64AB-BACEA4E71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998" y="3816750"/>
            <a:ext cx="3120190" cy="20253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23B5F3-8638-4C52-1A81-BFB7977C68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111" y="2042341"/>
            <a:ext cx="5715527" cy="3799796"/>
          </a:xfrm>
          <a:prstGeom prst="rect">
            <a:avLst/>
          </a:prstGeom>
        </p:spPr>
      </p:pic>
      <p:sp>
        <p:nvSpPr>
          <p:cNvPr id="13" name="Google Shape;110;g117bea95534_3_28">
            <a:extLst>
              <a:ext uri="{FF2B5EF4-FFF2-40B4-BE49-F238E27FC236}">
                <a16:creationId xmlns:a16="http://schemas.microsoft.com/office/drawing/2014/main" id="{31F9A70F-B8B5-18E4-152A-52C728C800C1}"/>
              </a:ext>
            </a:extLst>
          </p:cNvPr>
          <p:cNvSpPr txBox="1"/>
          <p:nvPr/>
        </p:nvSpPr>
        <p:spPr>
          <a:xfrm>
            <a:off x="2079374" y="1109992"/>
            <a:ext cx="8033252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351C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Pengelompokan Customer Berdasarkan Recency dan Money Value</a:t>
            </a:r>
          </a:p>
        </p:txBody>
      </p:sp>
    </p:spTree>
    <p:extLst>
      <p:ext uri="{BB962C8B-B14F-4D97-AF65-F5344CB8AC3E}">
        <p14:creationId xmlns:p14="http://schemas.microsoft.com/office/powerpoint/2010/main" val="1038212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21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D21156-24F1-CBF4-9658-73EE20EA2D19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C9248B-CDF3-797B-EF84-A6031A924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815353"/>
            <a:ext cx="11360800" cy="427648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70000"/>
              </a:lnSpc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Walau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Value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diterima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perusahaan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kecenderungan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naik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disetiap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bulannya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jumlah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transaksi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mengalami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penurunan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drastis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akhir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pemeliharaan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setiap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akhir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agar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penurunan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signifikan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banyaknya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transaksi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Bisa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menambah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menarik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diakhir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menambah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ekspedisi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pengiriman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agar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dipastikan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keterlambatan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pengiriman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disaat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High-Season</a:t>
            </a:r>
          </a:p>
          <a:p>
            <a:pPr algn="just">
              <a:lnSpc>
                <a:spcPct val="17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São Paulo (SP), Minas Gerais (MG), and Rio de Janeiro (RJ)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top 3 Kota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Total Value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tertinggi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Total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transaksi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Kota lain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masih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cenderung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kecil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jika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ingin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menaikkan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pesebaran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penjualan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kota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nilai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kecil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Credit card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tipe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pembayaran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paling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dan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kedua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Boleto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Dimana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Boleto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pembayaran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hanya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di Brazil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dibuat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pemerintah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Bank negara Brazil.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Kedua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pembayaran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persentase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90% - 95 %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transaksi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70000"/>
              </a:lnSpc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Perbanyak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info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pada jam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sibuk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setiap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harinya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hari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senini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pada jam 11.00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15.00-16.00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karena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di jam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itu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puncak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tertinggi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transaksi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Google Shape;109;g117bea95534_3_28">
            <a:extLst>
              <a:ext uri="{FF2B5EF4-FFF2-40B4-BE49-F238E27FC236}">
                <a16:creationId xmlns:a16="http://schemas.microsoft.com/office/drawing/2014/main" id="{4094006D-D7D2-5B52-FF04-D6D27D26467C}"/>
              </a:ext>
            </a:extLst>
          </p:cNvPr>
          <p:cNvSpPr txBox="1"/>
          <p:nvPr/>
        </p:nvSpPr>
        <p:spPr>
          <a:xfrm>
            <a:off x="415600" y="1341010"/>
            <a:ext cx="5935200" cy="562400"/>
          </a:xfrm>
          <a:prstGeom prst="rect">
            <a:avLst/>
          </a:prstGeom>
          <a:solidFill>
            <a:srgbClr val="F0EBFD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373474"/>
              </a:buClr>
              <a:buSzPts val="2400"/>
            </a:pPr>
            <a:r>
              <a:rPr lang="en" sz="2667" b="1" dirty="0">
                <a:solidFill>
                  <a:srgbClr val="351C75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sz="2667" b="1" dirty="0">
              <a:solidFill>
                <a:srgbClr val="351C7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89407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22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D21156-24F1-CBF4-9658-73EE20EA2D19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C9248B-CDF3-797B-EF84-A6031A924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903410"/>
            <a:ext cx="11360800" cy="4188423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bed_bath_table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computers_accessories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furniture_decor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produk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penjualan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tertinggi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perusahaan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kualitas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ketiga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kategori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dijual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customer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menjadikan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TOM e-commerce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membeli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ketiga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produk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Pola "New Customer"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cenderung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naik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turun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diperhatikan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dianalisis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lanjut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bulan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November 2017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menuju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Desember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2017,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karena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terdapat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penurunan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jumlah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New Customer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bahkan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jumlah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Customer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total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perusahaan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kembali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mengalami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penurunan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drastis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segi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New Customer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maupun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penjualan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diadakan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pelanggan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baru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bulan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Sebesar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76% review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positif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didapatkan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perusahaan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terkait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transaksi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sekitar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15%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terdapat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review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negatif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diberikan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customer.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selanjutnya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terkait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review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negatif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didapat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perusahaan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meminimalisir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review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negatif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customer.</a:t>
            </a:r>
          </a:p>
        </p:txBody>
      </p:sp>
      <p:sp>
        <p:nvSpPr>
          <p:cNvPr id="2" name="Google Shape;109;g117bea95534_3_28">
            <a:extLst>
              <a:ext uri="{FF2B5EF4-FFF2-40B4-BE49-F238E27FC236}">
                <a16:creationId xmlns:a16="http://schemas.microsoft.com/office/drawing/2014/main" id="{9396EA55-BD8A-7C21-3268-FDF4F5202A51}"/>
              </a:ext>
            </a:extLst>
          </p:cNvPr>
          <p:cNvSpPr txBox="1"/>
          <p:nvPr/>
        </p:nvSpPr>
        <p:spPr>
          <a:xfrm>
            <a:off x="415600" y="1341010"/>
            <a:ext cx="5935200" cy="562400"/>
          </a:xfrm>
          <a:prstGeom prst="rect">
            <a:avLst/>
          </a:prstGeom>
          <a:solidFill>
            <a:srgbClr val="F0EBFD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373474"/>
              </a:buClr>
              <a:buSzPts val="2400"/>
            </a:pPr>
            <a:r>
              <a:rPr lang="en" sz="2667" b="1" dirty="0">
                <a:solidFill>
                  <a:srgbClr val="351C75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sz="2667" b="1" dirty="0">
              <a:solidFill>
                <a:srgbClr val="351C7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93599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17bea95534_3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117bea95534_3_115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23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D21156-24F1-CBF4-9658-73EE20EA2D19}"/>
              </a:ext>
            </a:extLst>
          </p:cNvPr>
          <p:cNvSpPr/>
          <p:nvPr/>
        </p:nvSpPr>
        <p:spPr>
          <a:xfrm>
            <a:off x="7957811" y="-33475"/>
            <a:ext cx="4293704" cy="821635"/>
          </a:xfrm>
          <a:prstGeom prst="rect">
            <a:avLst/>
          </a:prstGeom>
          <a:solidFill>
            <a:srgbClr val="F679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Montserrat SemiBold" panose="00000700000000000000" pitchFamily="2" charset="0"/>
                <a:cs typeface="Arial" panose="020B0604020202020204" pitchFamily="34" charset="0"/>
              </a:rPr>
              <a:t>Result and Recommendations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C9248B-CDF3-797B-EF84-A6031A924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903410"/>
            <a:ext cx="11360800" cy="4188423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Perusahaan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segera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mencari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solusi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mempertahankan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customer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pernah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bertransaksi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di platform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supaya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pembelian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kedua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seterusnya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Bisa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memberi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point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kepada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customer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baru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saja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membeli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produk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di platform yang pada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akhirnya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dikumpulkan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ditukarkan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benefit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lainnya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berhubungan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pembelian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selanjutnya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diperhatikan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pemberian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cluster customer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terbentuk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perusahaan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keluar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biaya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salah target customer</a:t>
            </a:r>
          </a:p>
          <a:p>
            <a:pPr algn="just">
              <a:lnSpc>
                <a:spcPct val="170000"/>
              </a:lnSpc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109;g117bea95534_3_28">
            <a:extLst>
              <a:ext uri="{FF2B5EF4-FFF2-40B4-BE49-F238E27FC236}">
                <a16:creationId xmlns:a16="http://schemas.microsoft.com/office/drawing/2014/main" id="{9396EA55-BD8A-7C21-3268-FDF4F5202A51}"/>
              </a:ext>
            </a:extLst>
          </p:cNvPr>
          <p:cNvSpPr txBox="1"/>
          <p:nvPr/>
        </p:nvSpPr>
        <p:spPr>
          <a:xfrm>
            <a:off x="415600" y="1341010"/>
            <a:ext cx="5935200" cy="562400"/>
          </a:xfrm>
          <a:prstGeom prst="rect">
            <a:avLst/>
          </a:prstGeom>
          <a:solidFill>
            <a:srgbClr val="F0EBFD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373474"/>
              </a:buClr>
              <a:buSzPts val="2400"/>
            </a:pPr>
            <a:r>
              <a:rPr lang="en" sz="2667" b="1" dirty="0">
                <a:solidFill>
                  <a:srgbClr val="351C75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  <a:endParaRPr sz="2667" b="1" dirty="0">
              <a:solidFill>
                <a:srgbClr val="351C7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96319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117bea95534_3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512" y="-33475"/>
            <a:ext cx="12311027" cy="69249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117bea95534_3_81"/>
          <p:cNvSpPr txBox="1"/>
          <p:nvPr/>
        </p:nvSpPr>
        <p:spPr>
          <a:xfrm>
            <a:off x="8801100" y="6284976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1F386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24</a:t>
            </a:fld>
            <a:endParaRPr sz="1467" b="1">
              <a:solidFill>
                <a:srgbClr val="1F386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9" name="Google Shape;149;g117bea95534_3_81"/>
          <p:cNvSpPr txBox="1"/>
          <p:nvPr/>
        </p:nvSpPr>
        <p:spPr>
          <a:xfrm>
            <a:off x="3475700" y="1161800"/>
            <a:ext cx="6116400" cy="5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373474"/>
              </a:buClr>
              <a:buSzPts val="2400"/>
            </a:pPr>
            <a:endParaRPr sz="2667" b="1">
              <a:solidFill>
                <a:srgbClr val="351C7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g117bea95534_3_81"/>
          <p:cNvSpPr txBox="1"/>
          <p:nvPr/>
        </p:nvSpPr>
        <p:spPr>
          <a:xfrm>
            <a:off x="1072933" y="2105000"/>
            <a:ext cx="4457200" cy="5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20124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learning do I get from working on this project?</a:t>
            </a:r>
            <a:endParaRPr sz="1733" b="1" dirty="0">
              <a:solidFill>
                <a:srgbClr val="20124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1" name="Google Shape;151;g117bea95534_3_81"/>
          <p:cNvSpPr/>
          <p:nvPr/>
        </p:nvSpPr>
        <p:spPr>
          <a:xfrm>
            <a:off x="647700" y="2653400"/>
            <a:ext cx="5312867" cy="3631576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FFD96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457200" indent="-457200"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Pentingnya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memahami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sebelum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pengolahan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</a:p>
          <a:p>
            <a:pPr marL="457200" indent="-457200"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Pentingnya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cleaning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sebelum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melakukan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</a:p>
          <a:p>
            <a:pPr marL="457200" indent="-457200"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fi-FI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Pemahaman mendalam dalam penggunaan Python untuk analisis data</a:t>
            </a:r>
          </a:p>
          <a:p>
            <a:pPr marL="457200" indent="-457200"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Teknik-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teknik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visualisasi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agar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tampilan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menarik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mudah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dipahami</a:t>
            </a:r>
            <a:endParaRPr lang="en-US"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457200"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Menemukan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insight yang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berguna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86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yang </a:t>
            </a:r>
            <a:r>
              <a:rPr lang="en-US" sz="1867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diolah</a:t>
            </a: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117bea95534_3_81"/>
          <p:cNvSpPr/>
          <p:nvPr/>
        </p:nvSpPr>
        <p:spPr>
          <a:xfrm>
            <a:off x="6435637" y="2653400"/>
            <a:ext cx="4969734" cy="3631576"/>
          </a:xfrm>
          <a:prstGeom prst="roundRect">
            <a:avLst>
              <a:gd name="adj" fmla="val 16667"/>
            </a:avLst>
          </a:prstGeom>
          <a:solidFill>
            <a:srgbClr val="F0EBFD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457200" indent="-457200" algn="just"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Memahami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berbagai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konsep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dan Teknik yang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berguna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eksplorasi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data.</a:t>
            </a:r>
          </a:p>
          <a:p>
            <a:pPr marL="457200" indent="-457200" algn="just"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Menambah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keterampilan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kemampuan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membaca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sehingga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dijadikan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suatu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ide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solusi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baru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suatu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permasalahan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457200" indent="-457200" algn="just"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Meningkatkan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rasa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ingin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terhadap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ide yang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temukan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70" dirty="0" err="1">
                <a:latin typeface="Arial"/>
                <a:ea typeface="Arial"/>
                <a:cs typeface="Arial"/>
                <a:sym typeface="Arial"/>
              </a:rPr>
              <a:t>eksplorasi</a:t>
            </a:r>
            <a:r>
              <a:rPr lang="en-US" sz="1870" dirty="0">
                <a:latin typeface="Arial"/>
                <a:ea typeface="Arial"/>
                <a:cs typeface="Arial"/>
                <a:sym typeface="Arial"/>
              </a:rPr>
              <a:t> Data</a:t>
            </a:r>
          </a:p>
        </p:txBody>
      </p:sp>
      <p:sp>
        <p:nvSpPr>
          <p:cNvPr id="153" name="Google Shape;153;g117bea95534_3_81"/>
          <p:cNvSpPr txBox="1"/>
          <p:nvPr/>
        </p:nvSpPr>
        <p:spPr>
          <a:xfrm>
            <a:off x="6255100" y="1826316"/>
            <a:ext cx="5092000" cy="1119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lnSpc>
                <a:spcPct val="90000"/>
              </a:lnSpc>
              <a:buClr>
                <a:srgbClr val="2F5496"/>
              </a:buClr>
              <a:buSzPts val="3300"/>
            </a:pPr>
            <a:r>
              <a:rPr lang="en" sz="1733" b="1" dirty="0">
                <a:solidFill>
                  <a:srgbClr val="20124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other learning do I feel throughout my journey in #CDANarasioData?</a:t>
            </a:r>
            <a:endParaRPr sz="1733" b="1" dirty="0">
              <a:solidFill>
                <a:srgbClr val="20124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4" name="Google Shape;154;g117bea95534_3_81"/>
          <p:cNvSpPr txBox="1"/>
          <p:nvPr/>
        </p:nvSpPr>
        <p:spPr>
          <a:xfrm>
            <a:off x="3621600" y="1078284"/>
            <a:ext cx="4948800" cy="562400"/>
          </a:xfrm>
          <a:prstGeom prst="rect">
            <a:avLst/>
          </a:prstGeom>
          <a:solidFill>
            <a:srgbClr val="F0EBFD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373474"/>
              </a:buClr>
              <a:buSzPts val="2400"/>
            </a:pPr>
            <a:r>
              <a:rPr lang="en" sz="3067" b="1">
                <a:solidFill>
                  <a:srgbClr val="351C75"/>
                </a:solidFill>
                <a:latin typeface="Montserrat"/>
                <a:ea typeface="Montserrat"/>
                <a:cs typeface="Montserrat"/>
                <a:sym typeface="Montserrat"/>
              </a:rPr>
              <a:t>Learning Takeaways</a:t>
            </a:r>
            <a:endParaRPr sz="3067" b="1">
              <a:solidFill>
                <a:srgbClr val="351C7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117bea959ad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117bea959ad_0_16"/>
          <p:cNvSpPr txBox="1"/>
          <p:nvPr/>
        </p:nvSpPr>
        <p:spPr>
          <a:xfrm>
            <a:off x="8804969" y="6284971"/>
            <a:ext cx="2743200" cy="2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 sz="1467"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pPr algn="r">
                <a:buClr>
                  <a:srgbClr val="000000"/>
                </a:buClr>
                <a:buSzPts val="1100"/>
              </a:pPr>
              <a:t>25</a:t>
            </a:fld>
            <a:endParaRPr sz="1467" b="1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62" name="Google Shape;162;g117bea959ad_0_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000" y="1844949"/>
            <a:ext cx="6458101" cy="403315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117bea959ad_0_16"/>
          <p:cNvSpPr/>
          <p:nvPr/>
        </p:nvSpPr>
        <p:spPr>
          <a:xfrm>
            <a:off x="6871325" y="3379703"/>
            <a:ext cx="6458000" cy="1179200"/>
          </a:xfrm>
          <a:prstGeom prst="roundRect">
            <a:avLst>
              <a:gd name="adj" fmla="val 43645"/>
            </a:avLst>
          </a:prstGeom>
          <a:gradFill>
            <a:gsLst>
              <a:gs pos="0">
                <a:srgbClr val="FFD96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spcFirstLastPara="1" wrap="square" lIns="68567" tIns="68567" rIns="68567" bIns="68567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117bea959ad_0_16"/>
          <p:cNvSpPr txBox="1"/>
          <p:nvPr/>
        </p:nvSpPr>
        <p:spPr>
          <a:xfrm>
            <a:off x="7397275" y="3440125"/>
            <a:ext cx="4150800" cy="1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7" tIns="34267" rIns="68567" bIns="34267" anchor="ctr" anchorCtr="0">
            <a:noAutofit/>
          </a:bodyPr>
          <a:lstStyle/>
          <a:p>
            <a:pPr>
              <a:lnSpc>
                <a:spcPct val="90000"/>
              </a:lnSpc>
              <a:buClr>
                <a:srgbClr val="2F5496"/>
              </a:buClr>
              <a:buSzPts val="2500"/>
            </a:pPr>
            <a:r>
              <a:rPr lang="en" sz="3067" b="1">
                <a:solidFill>
                  <a:srgbClr val="2F549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THANK YOU!</a:t>
            </a:r>
            <a:endParaRPr sz="3067" b="1">
              <a:solidFill>
                <a:srgbClr val="2F549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1185</Words>
  <Application>Microsoft Office PowerPoint</Application>
  <PresentationFormat>Widescreen</PresentationFormat>
  <Paragraphs>117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Montserrat</vt:lpstr>
      <vt:lpstr>Montserrat SemiBold</vt:lpstr>
      <vt:lpstr>Roboto</vt:lpstr>
      <vt:lpstr>sohne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Fariz Agyan</dc:creator>
  <cp:lastModifiedBy>Fariz Agyan</cp:lastModifiedBy>
  <cp:revision>19</cp:revision>
  <dcterms:created xsi:type="dcterms:W3CDTF">2023-03-29T11:41:34Z</dcterms:created>
  <dcterms:modified xsi:type="dcterms:W3CDTF">2023-03-31T15:47:10Z</dcterms:modified>
</cp:coreProperties>
</file>